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4" r:id="rId11"/>
  </p:sldIdLst>
  <p:sldSz cx="18288000" cy="10287000"/>
  <p:notesSz cx="6858000" cy="9144000"/>
  <p:embeddedFontLst>
    <p:embeddedFont>
      <p:font typeface="Calibri" pitchFamily="34" charset="0"/>
      <p:regular r:id="rId12"/>
      <p:bold r:id="rId13"/>
      <p:italic r:id="rId14"/>
      <p:boldItalic r:id="rId15"/>
    </p:embeddedFont>
    <p:embeddedFont>
      <p:font typeface="Poppins Semi-Bold" charset="0"/>
      <p:regular r:id="rId16"/>
    </p:embeddedFont>
    <p:embeddedFont>
      <p:font typeface="Times New Roman Bold" pitchFamily="18" charset="0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1" d="100"/>
          <a:sy n="51" d="100"/>
        </p:scale>
        <p:origin x="-150" y="-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://www.chatgpt.com/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://www.wikipedia.com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4803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214198" y="189277"/>
            <a:ext cx="5292017" cy="1678847"/>
          </a:xfrm>
          <a:custGeom>
            <a:avLst/>
            <a:gdLst/>
            <a:ahLst/>
            <a:cxnLst/>
            <a:rect l="l" t="t" r="r" b="b"/>
            <a:pathLst>
              <a:path w="5292017" h="1678847">
                <a:moveTo>
                  <a:pt x="0" y="0"/>
                </a:moveTo>
                <a:lnTo>
                  <a:pt x="5292017" y="0"/>
                </a:lnTo>
                <a:lnTo>
                  <a:pt x="5292017" y="1678846"/>
                </a:lnTo>
                <a:lnTo>
                  <a:pt x="0" y="16788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274368" y="302299"/>
            <a:ext cx="3042518" cy="1452802"/>
          </a:xfrm>
          <a:custGeom>
            <a:avLst/>
            <a:gdLst/>
            <a:ahLst/>
            <a:cxnLst/>
            <a:rect l="l" t="t" r="r" b="b"/>
            <a:pathLst>
              <a:path w="3042518" h="1452802">
                <a:moveTo>
                  <a:pt x="0" y="0"/>
                </a:moveTo>
                <a:lnTo>
                  <a:pt x="3042518" y="0"/>
                </a:lnTo>
                <a:lnTo>
                  <a:pt x="3042518" y="1452802"/>
                </a:lnTo>
                <a:lnTo>
                  <a:pt x="0" y="14528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119591" y="302299"/>
            <a:ext cx="1868213" cy="1868213"/>
          </a:xfrm>
          <a:custGeom>
            <a:avLst/>
            <a:gdLst/>
            <a:ahLst/>
            <a:cxnLst/>
            <a:rect l="l" t="t" r="r" b="b"/>
            <a:pathLst>
              <a:path w="1868213" h="1868213">
                <a:moveTo>
                  <a:pt x="0" y="0"/>
                </a:moveTo>
                <a:lnTo>
                  <a:pt x="1868213" y="0"/>
                </a:lnTo>
                <a:lnTo>
                  <a:pt x="1868213" y="1868213"/>
                </a:lnTo>
                <a:lnTo>
                  <a:pt x="0" y="18682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825124" y="2407029"/>
            <a:ext cx="10080367" cy="7551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426"/>
              </a:lnSpc>
            </a:pPr>
            <a:endParaRPr dirty="0"/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•Problem Statement Title– </a:t>
            </a:r>
            <a:r>
              <a:rPr lang="en-US" sz="2997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Secure Platform For Women’s Incident Reporting And Support </a:t>
            </a: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•Theme –Women Safety</a:t>
            </a: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•Team ID –BHATUR44</a:t>
            </a: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•Team Name (Registered on Website) –Turning Trailblazers</a:t>
            </a: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•Participant Names –B. Sai Saranya</a:t>
            </a: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                                             B. Sowmya</a:t>
            </a: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                                             CH. Bhavana</a:t>
            </a:r>
          </a:p>
          <a:p>
            <a:pPr algn="just">
              <a:lnSpc>
                <a:spcPts val="5426"/>
              </a:lnSpc>
            </a:pPr>
            <a:endParaRPr lang="en-US" sz="2997" b="1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34214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94715" y="994282"/>
            <a:ext cx="6730981" cy="2966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5"/>
              </a:lnSpc>
            </a:pPr>
            <a:endParaRPr dirty="0"/>
          </a:p>
          <a:p>
            <a:pPr algn="ctr">
              <a:lnSpc>
                <a:spcPts val="7615"/>
              </a:lnSpc>
              <a:spcBef>
                <a:spcPct val="0"/>
              </a:spcBef>
            </a:pPr>
            <a:r>
              <a:rPr lang="en-US" sz="543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  <a:p>
            <a:pPr algn="ctr">
              <a:lnSpc>
                <a:spcPts val="7615"/>
              </a:lnSpc>
              <a:spcBef>
                <a:spcPct val="0"/>
              </a:spcBef>
            </a:pPr>
            <a:endParaRPr lang="en-US" sz="5439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321979" y="9794298"/>
            <a:ext cx="11076454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8349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TextBox 9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94401" y="538233"/>
            <a:ext cx="13845777" cy="1869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Secure platform for women’s incident reporting and support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05773" y="9794298"/>
            <a:ext cx="1049119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3673" y="882423"/>
            <a:ext cx="1424228" cy="66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Turning trailblazers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95778" y="2496838"/>
            <a:ext cx="12496443" cy="635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12"/>
              </a:lnSpc>
              <a:spcBef>
                <a:spcPct val="0"/>
              </a:spcBef>
            </a:pPr>
            <a:r>
              <a:rPr lang="en-US" sz="3865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6451" y="3050414"/>
            <a:ext cx="17678400" cy="6377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lnSpc>
                <a:spcPts val="6301"/>
              </a:lnSpc>
              <a:buFont typeface="Arial" panose="020B0604020202020204" pitchFamily="34" charset="0"/>
              <a:buChar char="•"/>
            </a:pPr>
            <a:r>
              <a:rPr lang="en-US" sz="38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women still face harassment and violence, but fear, stigma, and distrust often prevent them from reporting these incidents.</a:t>
            </a:r>
          </a:p>
          <a:p>
            <a:pPr marL="571500" indent="-571500" algn="just">
              <a:lnSpc>
                <a:spcPts val="6301"/>
              </a:lnSpc>
              <a:buFont typeface="Arial" panose="020B0604020202020204" pitchFamily="34" charset="0"/>
              <a:buChar char="•"/>
            </a:pPr>
            <a:r>
              <a:rPr lang="en-US" sz="38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Despite growing awareness, there’s a real need for a safe, anonymous space where they can seek help without hesitation.</a:t>
            </a:r>
          </a:p>
          <a:p>
            <a:pPr marL="571500" indent="-571500" algn="just">
              <a:lnSpc>
                <a:spcPts val="6301"/>
              </a:lnSpc>
              <a:buFont typeface="Arial" panose="020B0604020202020204" pitchFamily="34" charset="0"/>
              <a:buChar char="•"/>
            </a:pPr>
            <a:r>
              <a:rPr lang="en-US" sz="38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user-friendly platform could provide immediate support—legal, medical, and emotional—while ensuring privacy and security. </a:t>
            </a:r>
          </a:p>
          <a:p>
            <a:pPr marL="571500" indent="-571500" algn="just">
              <a:lnSpc>
                <a:spcPts val="6301"/>
              </a:lnSpc>
              <a:buFont typeface="Arial" panose="020B0604020202020204" pitchFamily="34" charset="0"/>
              <a:buChar char="•"/>
            </a:pPr>
            <a:r>
              <a:rPr lang="en-US" sz="38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Creating this system would empower women, offering both protection and a pathway to justice.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21124" y="640956"/>
            <a:ext cx="9226960" cy="1071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19"/>
              </a:lnSpc>
              <a:spcBef>
                <a:spcPct val="0"/>
              </a:spcBef>
            </a:pPr>
            <a:r>
              <a:rPr lang="en-US" sz="5656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64261" y="9794298"/>
            <a:ext cx="10783824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673" y="882423"/>
            <a:ext cx="1424228" cy="66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  <a:spcBef>
                <a:spcPct val="0"/>
              </a:spcBef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Turning trailblazers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78499" y="2094010"/>
            <a:ext cx="17133472" cy="7185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 algn="l">
              <a:lnSpc>
                <a:spcPts val="6301"/>
              </a:lnSpc>
              <a:buFont typeface="Arial" panose="020B0604020202020204" pitchFamily="34" charset="0"/>
              <a:buChar char="•"/>
            </a:pPr>
            <a:r>
              <a:rPr lang="en-US" sz="3865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</a:t>
            </a:r>
            <a:r>
              <a:rPr lang="en-US" sz="38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React Native (mobile), React (web)</a:t>
            </a:r>
          </a:p>
          <a:p>
            <a:pPr marL="571500" indent="-571500" algn="l">
              <a:lnSpc>
                <a:spcPts val="6301"/>
              </a:lnSpc>
              <a:buFont typeface="Arial" panose="020B0604020202020204" pitchFamily="34" charset="0"/>
              <a:buChar char="•"/>
            </a:pPr>
            <a:r>
              <a:rPr lang="en-US" sz="3865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Backend:</a:t>
            </a:r>
            <a:r>
              <a:rPr lang="en-US" sz="38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Node.js with Express, Python for AI moderation </a:t>
            </a:r>
          </a:p>
          <a:p>
            <a:pPr marL="571500" indent="-571500" algn="l">
              <a:lnSpc>
                <a:spcPts val="6301"/>
              </a:lnSpc>
              <a:buFont typeface="Arial" panose="020B0604020202020204" pitchFamily="34" charset="0"/>
              <a:buChar char="•"/>
            </a:pPr>
            <a:r>
              <a:rPr lang="en-US" sz="3865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Database:</a:t>
            </a:r>
            <a:r>
              <a:rPr lang="en-US" sz="38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PostgreSQL (encrypted), Firebase (for real-time features)</a:t>
            </a:r>
          </a:p>
          <a:p>
            <a:pPr marL="571500" indent="-571500" algn="l">
              <a:lnSpc>
                <a:spcPts val="6301"/>
              </a:lnSpc>
              <a:buFont typeface="Arial" panose="020B0604020202020204" pitchFamily="34" charset="0"/>
              <a:buChar char="•"/>
            </a:pPr>
            <a:r>
              <a:rPr lang="en-US" sz="3865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Security: </a:t>
            </a:r>
            <a:r>
              <a:rPr lang="en-US" sz="38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AES-256 encryption, biometric login, GDPR compliance</a:t>
            </a:r>
          </a:p>
          <a:p>
            <a:pPr marL="571500" indent="-571500" algn="l">
              <a:lnSpc>
                <a:spcPts val="6301"/>
              </a:lnSpc>
              <a:buFont typeface="Arial" panose="020B0604020202020204" pitchFamily="34" charset="0"/>
              <a:buChar char="•"/>
            </a:pPr>
            <a:r>
              <a:rPr lang="en-US" sz="3865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Methodology:</a:t>
            </a:r>
          </a:p>
          <a:p>
            <a:pPr algn="just">
              <a:lnSpc>
                <a:spcPts val="6301"/>
              </a:lnSpc>
            </a:pPr>
            <a:r>
              <a:rPr lang="en-US" sz="38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platform employs end-to-end encryption, anonymous reporting, role-based access, and secure user authentication. Community moderators and verified counselors provide support. Regular security audits and user consent protocols ensure safety, confidentiality, and trust throughout the incident reporting process.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114061" y="-219075"/>
            <a:ext cx="10287824" cy="1869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29"/>
              </a:lnSpc>
            </a:pPr>
            <a:endParaRPr lang="en-US" sz="5449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ctr">
              <a:lnSpc>
                <a:spcPts val="7629"/>
              </a:lnSpc>
              <a:spcBef>
                <a:spcPct val="0"/>
              </a:spcBef>
            </a:pPr>
            <a:endParaRPr lang="en-US" sz="5449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663860" y="9794298"/>
            <a:ext cx="1042366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FAE53456-FCDC-D165-8D47-44166A8046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1200" y="1642461"/>
            <a:ext cx="13258800" cy="799891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B75E47A6-DA28-2B50-6001-A4026A55B142}"/>
              </a:ext>
            </a:extLst>
          </p:cNvPr>
          <p:cNvSpPr txBox="1"/>
          <p:nvPr/>
        </p:nvSpPr>
        <p:spPr>
          <a:xfrm>
            <a:off x="6019885" y="303254"/>
            <a:ext cx="8382000" cy="963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6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  <a:endParaRPr lang="en-IN" sz="566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xmlns="" id="{4B9ACEB8-CE75-7CA4-C8B7-174EB6B8DFE7}"/>
              </a:ext>
            </a:extLst>
          </p:cNvPr>
          <p:cNvSpPr/>
          <p:nvPr/>
        </p:nvSpPr>
        <p:spPr>
          <a:xfrm>
            <a:off x="381745" y="33152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51756EAF-02E6-CD17-255D-B9C783DFFE78}"/>
              </a:ext>
            </a:extLst>
          </p:cNvPr>
          <p:cNvSpPr txBox="1"/>
          <p:nvPr/>
        </p:nvSpPr>
        <p:spPr>
          <a:xfrm>
            <a:off x="727587" y="568412"/>
            <a:ext cx="13717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Turning trailblazers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871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76856" y="455527"/>
            <a:ext cx="10590345" cy="103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AND VIABILITY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48719" y="9794298"/>
            <a:ext cx="1060374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 dirty="0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</a:t>
            </a:r>
            <a:r>
              <a:rPr lang="en-US" sz="1865" b="1" dirty="0" err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Engg</a:t>
            </a:r>
            <a:r>
              <a:rPr lang="en-US" sz="1865" b="1" dirty="0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673" y="882423"/>
            <a:ext cx="1424228" cy="66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  <a:spcBef>
                <a:spcPct val="0"/>
              </a:spcBef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Turning trailblazers</a:t>
            </a: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xmlns="" id="{00C033E5-0383-7E7C-85FB-738EA2B22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2119595"/>
            <a:ext cx="15240000" cy="6047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87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Safety &amp; Anonymity</a:t>
            </a:r>
            <a:r>
              <a:rPr kumimoji="0" lang="en-US" altLang="en-US" sz="387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A secure platform ensures confidential incident reporting, reducing fear and social stigma.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87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87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Immediate Support</a:t>
            </a:r>
            <a:r>
              <a:rPr kumimoji="0" lang="en-US" altLang="en-US" sz="387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AI-driven tools provide real-time legal, medical, and psychological assistance.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87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87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Privacy</a:t>
            </a:r>
            <a:r>
              <a:rPr kumimoji="0" lang="en-US" altLang="en-US" sz="387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Encrypted communication and secure storage protect victim identities.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87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87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  <a:r>
              <a:rPr kumimoji="0" lang="en-US" altLang="en-US" sz="387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The system can expand regionally with localized resources.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861" y="-2581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24650" y="565676"/>
            <a:ext cx="8879582" cy="103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AND BENEFITS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3860" y="9794298"/>
            <a:ext cx="1017605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673" y="882423"/>
            <a:ext cx="1424228" cy="1010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Turning trailblazers</a:t>
            </a:r>
          </a:p>
          <a:p>
            <a:pPr algn="ctr">
              <a:lnSpc>
                <a:spcPts val="2707"/>
              </a:lnSpc>
            </a:pPr>
            <a:endParaRPr lang="en-US" sz="193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28601" y="3926594"/>
            <a:ext cx="17602200" cy="2977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buFont typeface="+mj-lt"/>
              <a:buAutoNum type="arabicPeriod"/>
            </a:pPr>
            <a:r>
              <a:rPr lang="en-US" sz="3870" b="1" dirty="0">
                <a:latin typeface="Times New Roman Bold" panose="02020803070505020304" pitchFamily="18" charset="0"/>
                <a:cs typeface="Times New Roman Bold" panose="02020803070505020304" pitchFamily="18" charset="0"/>
              </a:rPr>
              <a:t>Financial Viability</a:t>
            </a:r>
            <a:r>
              <a:rPr lang="en-US" sz="3870" dirty="0">
                <a:latin typeface="Times New Roman Bold" panose="02020803070505020304" pitchFamily="18" charset="0"/>
                <a:cs typeface="Times New Roman Bold" panose="02020803070505020304" pitchFamily="18" charset="0"/>
              </a:rPr>
              <a:t> – </a:t>
            </a:r>
            <a:r>
              <a:rPr lang="en-US" sz="3870" dirty="0">
                <a:latin typeface="Times New Roman "/>
                <a:cs typeface="Times New Roman Bold" panose="02020803070505020304" pitchFamily="18" charset="0"/>
              </a:rPr>
              <a:t>Funding from government, NGOs, and private sectors ensures sustainability.</a:t>
            </a:r>
          </a:p>
          <a:p>
            <a:pPr algn="just">
              <a:buFont typeface="+mj-lt"/>
              <a:buAutoNum type="arabicPeriod"/>
            </a:pPr>
            <a:r>
              <a:rPr lang="en-US" sz="3870" b="1" dirty="0">
                <a:latin typeface="Times New Roman Bold" panose="02020803070505020304" pitchFamily="18" charset="0"/>
                <a:cs typeface="Times New Roman Bold" panose="02020803070505020304" pitchFamily="18" charset="0"/>
              </a:rPr>
              <a:t>Policy Impact</a:t>
            </a:r>
            <a:r>
              <a:rPr lang="en-US" sz="3870" dirty="0">
                <a:latin typeface="Times New Roman Bold" panose="02020803070505020304" pitchFamily="18" charset="0"/>
                <a:cs typeface="Times New Roman Bold" panose="02020803070505020304" pitchFamily="18" charset="0"/>
              </a:rPr>
              <a:t> – </a:t>
            </a:r>
            <a:r>
              <a:rPr lang="en-US" sz="3870" dirty="0">
                <a:latin typeface="Times New Roman "/>
                <a:cs typeface="Times New Roman Bold" panose="02020803070505020304" pitchFamily="18" charset="0"/>
              </a:rPr>
              <a:t>Collected data aids policymaking and prevention strategies.</a:t>
            </a:r>
          </a:p>
          <a:p>
            <a:pPr algn="just">
              <a:buFont typeface="+mj-lt"/>
              <a:buAutoNum type="arabicPeriod"/>
            </a:pPr>
            <a:r>
              <a:rPr lang="en-US" sz="3870" b="1" dirty="0">
                <a:latin typeface="Times New Roman Bold" panose="02020803070505020304" pitchFamily="18" charset="0"/>
                <a:cs typeface="Times New Roman Bold" panose="02020803070505020304" pitchFamily="18" charset="0"/>
              </a:rPr>
              <a:t>User Adoption</a:t>
            </a:r>
            <a:r>
              <a:rPr lang="en-US" sz="3870" dirty="0">
                <a:latin typeface="Times New Roman Bold" panose="02020803070505020304" pitchFamily="18" charset="0"/>
                <a:cs typeface="Times New Roman Bold" panose="02020803070505020304" pitchFamily="18" charset="0"/>
              </a:rPr>
              <a:t> – </a:t>
            </a:r>
            <a:r>
              <a:rPr lang="en-US" sz="3870" dirty="0">
                <a:latin typeface="Times New Roman "/>
                <a:cs typeface="Times New Roman Bold" panose="02020803070505020304" pitchFamily="18" charset="0"/>
              </a:rPr>
              <a:t>Awareness and accessibility encourage usage, fostering systemic change.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4311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82112" y="455527"/>
            <a:ext cx="11323776" cy="103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AND REFERENCES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95994" y="9794298"/>
            <a:ext cx="1037864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673" y="882423"/>
            <a:ext cx="1424228" cy="66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Turning trailblazers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190411" y="2758648"/>
            <a:ext cx="12809355" cy="4769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05"/>
              </a:lnSpc>
            </a:pPr>
            <a:r>
              <a:rPr lang="en-US" sz="46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  </a:t>
            </a:r>
            <a:r>
              <a:rPr lang="en-US" sz="4665" dirty="0">
                <a:solidFill>
                  <a:srgbClr val="000000"/>
                </a:solidFill>
                <a:latin typeface="Times New Roman Bold" panose="02020803070505020304" pitchFamily="18" charset="0"/>
                <a:ea typeface="Times New Roman"/>
                <a:cs typeface="Times New Roman Bold" panose="02020803070505020304" pitchFamily="18" charset="0"/>
                <a:sym typeface="Times New Roman"/>
              </a:rPr>
              <a:t>Wikipedia</a:t>
            </a:r>
          </a:p>
          <a:p>
            <a:pPr algn="l">
              <a:lnSpc>
                <a:spcPts val="7605"/>
              </a:lnSpc>
            </a:pPr>
            <a:r>
              <a:rPr lang="en-US" sz="46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46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/>
              </a:rPr>
              <a:t>www.wikipedia.com</a:t>
            </a:r>
            <a:endParaRPr lang="en-US" sz="4665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indent="-685800" algn="l">
              <a:lnSpc>
                <a:spcPts val="7605"/>
              </a:lnSpc>
              <a:buFont typeface="Arial" panose="020B0604020202020204" pitchFamily="34" charset="0"/>
              <a:buChar char="•"/>
            </a:pPr>
            <a:r>
              <a:rPr lang="en-US" sz="4665" dirty="0">
                <a:solidFill>
                  <a:srgbClr val="000000"/>
                </a:solidFill>
                <a:latin typeface="Times New Roman Bold" panose="02020803070505020304" pitchFamily="18" charset="0"/>
                <a:ea typeface="Times New Roman"/>
                <a:cs typeface="Times New Roman Bold" panose="02020803070505020304" pitchFamily="18" charset="0"/>
                <a:sym typeface="Times New Roman"/>
              </a:rPr>
              <a:t>Research</a:t>
            </a:r>
          </a:p>
          <a:p>
            <a:pPr algn="l">
              <a:lnSpc>
                <a:spcPts val="7605"/>
              </a:lnSpc>
            </a:pPr>
            <a:r>
              <a:rPr lang="en-US" sz="4665" dirty="0">
                <a:solidFill>
                  <a:srgbClr val="000000"/>
                </a:solidFill>
                <a:latin typeface="Times New Roman Bold" panose="02020803070505020304" pitchFamily="18" charset="0"/>
                <a:ea typeface="Times New Roman"/>
                <a:cs typeface="Times New Roman Bold" panose="02020803070505020304" pitchFamily="18" charset="0"/>
                <a:sym typeface="Times New Roman"/>
              </a:rPr>
              <a:t>      </a:t>
            </a:r>
            <a:r>
              <a:rPr lang="en-US" sz="4665" dirty="0">
                <a:solidFill>
                  <a:srgbClr val="000000"/>
                </a:solidFill>
                <a:latin typeface="Times New Roman "/>
                <a:ea typeface="Times New Roman"/>
                <a:cs typeface="Times New Roman Bold" panose="02020803070505020304" pitchFamily="18" charset="0"/>
                <a:sym typeface="Times New Roman"/>
                <a:hlinkClick r:id="rId8"/>
              </a:rPr>
              <a:t>www.chatgpt.com</a:t>
            </a:r>
            <a:endParaRPr lang="en-US" sz="4665" dirty="0">
              <a:solidFill>
                <a:srgbClr val="000000"/>
              </a:solidFill>
              <a:latin typeface="Times New Roman "/>
              <a:ea typeface="Times New Roman"/>
              <a:cs typeface="Times New Roman Bold" panose="02020803070505020304" pitchFamily="18" charset="0"/>
              <a:sym typeface="Times New Roman"/>
            </a:endParaRPr>
          </a:p>
          <a:p>
            <a:pPr algn="l">
              <a:lnSpc>
                <a:spcPts val="7605"/>
              </a:lnSpc>
            </a:pPr>
            <a:endParaRPr lang="en-US" sz="4665" dirty="0">
              <a:solidFill>
                <a:srgbClr val="000000"/>
              </a:solidFill>
              <a:latin typeface="Times New Roman Bold" panose="02020803070505020304" pitchFamily="18" charset="0"/>
              <a:ea typeface="Times New Roman"/>
              <a:cs typeface="Times New Roman Bold" panose="020208030705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383474" y="841771"/>
            <a:ext cx="9937554" cy="1042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ENHANCEMENTS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96330" y="9794298"/>
            <a:ext cx="10206967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673" y="882423"/>
            <a:ext cx="1424228" cy="66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Turning trailblazers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B9A71877-7C2A-ABF5-31C7-334C4A08E8DC}"/>
              </a:ext>
            </a:extLst>
          </p:cNvPr>
          <p:cNvSpPr txBox="1"/>
          <p:nvPr/>
        </p:nvSpPr>
        <p:spPr>
          <a:xfrm>
            <a:off x="3451861" y="3108045"/>
            <a:ext cx="11430000" cy="3665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AutoNum type="arabicPeriod"/>
            </a:pPr>
            <a:r>
              <a:rPr lang="en-US" sz="38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Incident Classification and Risk Assessment</a:t>
            </a:r>
          </a:p>
          <a:p>
            <a:pPr marL="742950" indent="-742950">
              <a:buAutoNum type="arabicPeriod"/>
            </a:pPr>
            <a:endParaRPr lang="en-US" sz="38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8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Predictive Safety Mapping</a:t>
            </a:r>
          </a:p>
          <a:p>
            <a:endParaRPr lang="en-US" sz="38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8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Blockchain for Evidence Integrity</a:t>
            </a:r>
            <a:endParaRPr lang="en-IN" sz="38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861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43492" y="862429"/>
            <a:ext cx="8857072" cy="894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DEMO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50476" y="9794298"/>
            <a:ext cx="10387047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673" y="882423"/>
            <a:ext cx="1424228" cy="66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Turning trailblazers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324100"/>
            <a:ext cx="11879263" cy="6450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119602" y="841771"/>
            <a:ext cx="10266947" cy="1042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&amp; THANK YOU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95355" y="9794298"/>
            <a:ext cx="1049119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673" y="882423"/>
            <a:ext cx="1424228" cy="66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Turning trailblazers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7200" y="2201837"/>
            <a:ext cx="16802258" cy="71915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88812" lvl="1" indent="-571500" algn="l">
              <a:lnSpc>
                <a:spcPts val="6301"/>
              </a:lnSpc>
              <a:buFont typeface="Arial" panose="020B0604020202020204" pitchFamily="34" charset="0"/>
              <a:buChar char="•"/>
            </a:pPr>
            <a:r>
              <a:rPr lang="en-US" sz="38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Secure Platform for Women’s Incident Reporting and Support provides a safe, confidential way for women to report abuse and seek help.</a:t>
            </a:r>
          </a:p>
          <a:p>
            <a:pPr marL="988812" lvl="1" indent="-571500" algn="l">
              <a:lnSpc>
                <a:spcPts val="6301"/>
              </a:lnSpc>
              <a:buFont typeface="Arial" panose="020B0604020202020204" pitchFamily="34" charset="0"/>
              <a:buChar char="•"/>
            </a:pPr>
            <a:r>
              <a:rPr lang="en-US" sz="38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integrates anonymous reporting, SOS alerts, and access to legal and emotional </a:t>
            </a:r>
            <a:r>
              <a:rPr lang="en-US" sz="3865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support.Multilingual</a:t>
            </a:r>
            <a:r>
              <a:rPr lang="en-US" sz="38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accessible, it empowers users across diverse backgrounds.</a:t>
            </a:r>
          </a:p>
          <a:p>
            <a:pPr marL="988812" lvl="1" indent="-571500" algn="l">
              <a:lnSpc>
                <a:spcPts val="6301"/>
              </a:lnSpc>
              <a:buFont typeface="Arial" panose="020B0604020202020204" pitchFamily="34" charset="0"/>
              <a:buChar char="•"/>
            </a:pPr>
            <a:r>
              <a:rPr lang="en-US" sz="38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platform helps authorities respond efficiently using real-time data </a:t>
            </a:r>
            <a:r>
              <a:rPr lang="en-US" sz="3865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insights.Overall</a:t>
            </a:r>
            <a:r>
              <a:rPr lang="en-US" sz="38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it’s a vital tool for protection, justice, and gender equality.</a:t>
            </a:r>
          </a:p>
          <a:p>
            <a:pPr marL="417312" lvl="1" algn="ctr">
              <a:lnSpc>
                <a:spcPts val="6301"/>
              </a:lnSpc>
            </a:pPr>
            <a:endParaRPr lang="en-US" sz="407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17312" lvl="1" algn="ctr">
              <a:lnSpc>
                <a:spcPts val="6301"/>
              </a:lnSpc>
            </a:pPr>
            <a:r>
              <a:rPr lang="en-US" sz="407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 FOR THE ORGANIZERS AND GUIDES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626</Words>
  <Application>Microsoft Office PowerPoint</Application>
  <PresentationFormat>Custom</PresentationFormat>
  <Paragraphs>82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Times New Roman </vt:lpstr>
      <vt:lpstr>Times New Roman</vt:lpstr>
      <vt:lpstr>Poppins Semi-Bold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Pink Gradient Modern Minimalist Computer Technology Presentation</dc:title>
  <cp:lastModifiedBy>Admin</cp:lastModifiedBy>
  <cp:revision>4</cp:revision>
  <dcterms:created xsi:type="dcterms:W3CDTF">2006-08-16T00:00:00Z</dcterms:created>
  <dcterms:modified xsi:type="dcterms:W3CDTF">2025-04-30T14:22:25Z</dcterms:modified>
  <dc:identifier>DAGmCImH0yY</dc:identifier>
</cp:coreProperties>
</file>